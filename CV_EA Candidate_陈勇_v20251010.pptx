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853" r:id="rId4"/>
  </p:sldMasterIdLst>
  <p:notesMasterIdLst>
    <p:notesMasterId r:id="rId6"/>
  </p:notesMasterIdLst>
  <p:sldIdLst>
    <p:sldId id="258" r:id="rId5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72" autoAdjust="0"/>
    <p:restoredTop sz="95642" autoAdjust="0"/>
  </p:normalViewPr>
  <p:slideViewPr>
    <p:cSldViewPr snapToGrid="0">
      <p:cViewPr>
        <p:scale>
          <a:sx n="93" d="100"/>
          <a:sy n="93" d="100"/>
        </p:scale>
        <p:origin x="389" y="86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18A88D-C5B7-4730-BC01-52A7B2EF2910}" type="datetimeFigureOut">
              <a:rPr lang="en-US" smtClean="0"/>
              <a:t>10/10/2025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AF3BF2-AED4-442B-9385-41BCDC8680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505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defTabSz="727510" fontAlgn="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AF3BF2-AED4-442B-9385-41BCDC86802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453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Subhead: 3 Column - Breadcrumb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D1FA0000-C94E-E149-9623-BD66BFB06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914400" y="812800"/>
            <a:ext cx="10325100" cy="7874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 noProof="0" dirty="0"/>
              <a:t>Click to edit Master title s edit Master title style </a:t>
            </a:r>
            <a:r>
              <a:rPr lang="en-US" noProof="0" dirty="0" err="1"/>
              <a:t>tyle</a:t>
            </a:r>
            <a:endParaRPr lang="en-US" noProof="0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A8B5101F-02F4-F644-B829-A903E6C5AF8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400" y="1724535"/>
            <a:ext cx="9296400" cy="584200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/>
            </a:lvl1pPr>
          </a:lstStyle>
          <a:p>
            <a:pPr lvl="0"/>
            <a:r>
              <a:rPr lang="en-US" dirty="0"/>
              <a:t>2 lines running intro text. Morbi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, porta ac </a:t>
            </a:r>
            <a:r>
              <a:rPr lang="en-US" dirty="0" err="1"/>
              <a:t>consectetur</a:t>
            </a:r>
            <a:r>
              <a:rPr lang="en-US" dirty="0"/>
              <a:t> ac, vestibulum at eros. Donec sed </a:t>
            </a:r>
            <a:r>
              <a:rPr lang="en-US" dirty="0" err="1"/>
              <a:t>odio</a:t>
            </a:r>
            <a:r>
              <a:rPr lang="en-US" dirty="0"/>
              <a:t> dui.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cursus magna, vel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et. Sed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at </a:t>
            </a:r>
            <a:r>
              <a:rPr lang="en-US" dirty="0" err="1"/>
              <a:t>lobortis</a:t>
            </a:r>
            <a:r>
              <a:rPr lang="en-US" dirty="0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91C994-DD05-CB44-8508-2A07253626F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4399" y="2675965"/>
            <a:ext cx="3092823" cy="3321610"/>
          </a:xfrm>
        </p:spPr>
        <p:txBody>
          <a:bodyPr/>
          <a:lstStyle>
            <a:lvl1pPr>
              <a:defRPr sz="1000">
                <a:latin typeface="+mn-lt"/>
              </a:defRPr>
            </a:lvl1pPr>
            <a:lvl2pPr>
              <a:defRPr sz="1000">
                <a:latin typeface="+mn-lt"/>
              </a:defRPr>
            </a:lvl2pPr>
            <a:lvl3pPr>
              <a:defRPr sz="1000">
                <a:latin typeface="+mn-lt"/>
              </a:defRPr>
            </a:lvl3pPr>
            <a:lvl4pPr>
              <a:defRPr sz="1000">
                <a:latin typeface="+mn-lt"/>
              </a:defRPr>
            </a:lvl4pPr>
            <a:lvl5pPr>
              <a:defRPr sz="1000">
                <a:latin typeface="+mn-lt"/>
              </a:defRPr>
            </a:lvl5pPr>
          </a:lstStyle>
          <a:p>
            <a:pPr lvl="0"/>
            <a:r>
              <a:rPr lang="en-US" dirty="0"/>
              <a:t>Felis </a:t>
            </a:r>
            <a:r>
              <a:rPr lang="en-US" dirty="0" err="1"/>
              <a:t>blandit</a:t>
            </a:r>
            <a:r>
              <a:rPr lang="en-US" dirty="0"/>
              <a:t> cursus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class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dictumst</a:t>
            </a:r>
            <a:r>
              <a:rPr lang="en-US" dirty="0"/>
              <a:t>, </a:t>
            </a:r>
            <a:r>
              <a:rPr lang="en-US" dirty="0" err="1"/>
              <a:t>aenean</a:t>
            </a:r>
            <a:r>
              <a:rPr lang="en-US" dirty="0"/>
              <a:t> non a in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nulla.Etu</a:t>
            </a:r>
            <a:r>
              <a:rPr lang="en-US" dirty="0"/>
              <a:t> </a:t>
            </a:r>
            <a:r>
              <a:rPr lang="en-US" dirty="0" err="1"/>
              <a:t>phasellus</a:t>
            </a:r>
            <a:r>
              <a:rPr lang="en-US" dirty="0"/>
              <a:t> ante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cum </a:t>
            </a:r>
            <a:r>
              <a:rPr lang="en-US" dirty="0" err="1"/>
              <a:t>risus</a:t>
            </a:r>
            <a:r>
              <a:rPr lang="en-US" dirty="0"/>
              <a:t> dolor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, integer </a:t>
            </a:r>
            <a:r>
              <a:rPr lang="en-US" dirty="0" err="1"/>
              <a:t>placerat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 mi eros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, </a:t>
            </a:r>
            <a:r>
              <a:rPr lang="en-US" dirty="0" err="1"/>
              <a:t>vehicula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ligula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pretium</a:t>
            </a:r>
            <a:r>
              <a:rPr lang="en-US" dirty="0"/>
              <a:t> lorem </a:t>
            </a:r>
            <a:r>
              <a:rPr lang="en-US" dirty="0" err="1"/>
              <a:t>primisetua</a:t>
            </a:r>
            <a:r>
              <a:rPr lang="en-US" dirty="0"/>
              <a:t>, </a:t>
            </a:r>
            <a:r>
              <a:rPr lang="en-US" dirty="0" err="1"/>
              <a:t>senectus</a:t>
            </a:r>
            <a:r>
              <a:rPr lang="en-US" dirty="0"/>
              <a:t> </a:t>
            </a:r>
            <a:r>
              <a:rPr lang="en-US" dirty="0" err="1"/>
              <a:t>habitasse</a:t>
            </a:r>
            <a:r>
              <a:rPr lang="en-US" dirty="0"/>
              <a:t> </a:t>
            </a:r>
            <a:r>
              <a:rPr lang="en-US" dirty="0" err="1"/>
              <a:t>lectusetu</a:t>
            </a:r>
            <a:r>
              <a:rPr lang="en-US" dirty="0"/>
              <a:t> </a:t>
            </a:r>
            <a:r>
              <a:rPr lang="en-US" dirty="0" err="1"/>
              <a:t>doler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donec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mi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curae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. Massa </a:t>
            </a:r>
            <a:r>
              <a:rPr lang="en-US" dirty="0" err="1"/>
              <a:t>curae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quam</a:t>
            </a:r>
            <a:r>
              <a:rPr lang="en-US" dirty="0"/>
              <a:t> =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class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dictumst</a:t>
            </a:r>
            <a:r>
              <a:rPr lang="en-US" dirty="0"/>
              <a:t>, </a:t>
            </a:r>
            <a:r>
              <a:rPr lang="en-US" dirty="0" err="1"/>
              <a:t>aenean</a:t>
            </a:r>
            <a:r>
              <a:rPr lang="en-US" dirty="0"/>
              <a:t> non a in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.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2BE551D-14EE-544A-8F49-DE7C4E74B10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10635" y="2675965"/>
            <a:ext cx="3092823" cy="3321610"/>
          </a:xfrm>
        </p:spPr>
        <p:txBody>
          <a:bodyPr/>
          <a:lstStyle>
            <a:lvl1pPr>
              <a:defRPr sz="1000">
                <a:latin typeface="+mn-lt"/>
              </a:defRPr>
            </a:lvl1pPr>
            <a:lvl2pPr>
              <a:defRPr sz="1000">
                <a:latin typeface="+mn-lt"/>
              </a:defRPr>
            </a:lvl2pPr>
            <a:lvl3pPr>
              <a:defRPr sz="1000">
                <a:latin typeface="+mn-lt"/>
              </a:defRPr>
            </a:lvl3pPr>
            <a:lvl4pPr>
              <a:defRPr sz="1000">
                <a:latin typeface="+mn-lt"/>
              </a:defRPr>
            </a:lvl4pPr>
            <a:lvl5pPr>
              <a:defRPr sz="1000">
                <a:latin typeface="+mn-lt"/>
              </a:defRPr>
            </a:lvl5pPr>
          </a:lstStyle>
          <a:p>
            <a:pPr lvl="0"/>
            <a:r>
              <a:rPr lang="en-US" dirty="0"/>
              <a:t>Felis </a:t>
            </a:r>
            <a:r>
              <a:rPr lang="en-US" dirty="0" err="1"/>
              <a:t>blandit</a:t>
            </a:r>
            <a:r>
              <a:rPr lang="en-US" dirty="0"/>
              <a:t> cursus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class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dictumst</a:t>
            </a:r>
            <a:r>
              <a:rPr lang="en-US" dirty="0"/>
              <a:t>, </a:t>
            </a:r>
            <a:r>
              <a:rPr lang="en-US" dirty="0" err="1"/>
              <a:t>aenean</a:t>
            </a:r>
            <a:r>
              <a:rPr lang="en-US" dirty="0"/>
              <a:t> non a in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nulla.Etu</a:t>
            </a:r>
            <a:r>
              <a:rPr lang="en-US" dirty="0"/>
              <a:t> </a:t>
            </a:r>
            <a:r>
              <a:rPr lang="en-US" dirty="0" err="1"/>
              <a:t>phasellus</a:t>
            </a:r>
            <a:r>
              <a:rPr lang="en-US" dirty="0"/>
              <a:t> ante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cum </a:t>
            </a:r>
            <a:r>
              <a:rPr lang="en-US" dirty="0" err="1"/>
              <a:t>risus</a:t>
            </a:r>
            <a:r>
              <a:rPr lang="en-US" dirty="0"/>
              <a:t> dolor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, integer </a:t>
            </a:r>
            <a:r>
              <a:rPr lang="en-US" dirty="0" err="1"/>
              <a:t>placerat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 mi eros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, </a:t>
            </a:r>
            <a:r>
              <a:rPr lang="en-US" dirty="0" err="1"/>
              <a:t>vehicula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ligula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pretium</a:t>
            </a:r>
            <a:r>
              <a:rPr lang="en-US" dirty="0"/>
              <a:t> lorem </a:t>
            </a:r>
            <a:r>
              <a:rPr lang="en-US" dirty="0" err="1"/>
              <a:t>primisetua</a:t>
            </a:r>
            <a:r>
              <a:rPr lang="en-US" dirty="0"/>
              <a:t>, </a:t>
            </a:r>
            <a:r>
              <a:rPr lang="en-US" dirty="0" err="1"/>
              <a:t>senectus</a:t>
            </a:r>
            <a:r>
              <a:rPr lang="en-US" dirty="0"/>
              <a:t> </a:t>
            </a:r>
            <a:r>
              <a:rPr lang="en-US" dirty="0" err="1"/>
              <a:t>habitasse</a:t>
            </a:r>
            <a:r>
              <a:rPr lang="en-US" dirty="0"/>
              <a:t> </a:t>
            </a:r>
            <a:r>
              <a:rPr lang="en-US" dirty="0" err="1"/>
              <a:t>lectusetu</a:t>
            </a:r>
            <a:r>
              <a:rPr lang="en-US" dirty="0"/>
              <a:t> </a:t>
            </a:r>
            <a:r>
              <a:rPr lang="en-US" dirty="0" err="1"/>
              <a:t>doler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donec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mi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curae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. Massa </a:t>
            </a:r>
            <a:r>
              <a:rPr lang="en-US" dirty="0" err="1"/>
              <a:t>curae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quam</a:t>
            </a:r>
            <a:r>
              <a:rPr lang="en-US" dirty="0"/>
              <a:t> =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class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dictumst</a:t>
            </a:r>
            <a:r>
              <a:rPr lang="en-US" dirty="0"/>
              <a:t>, </a:t>
            </a:r>
            <a:r>
              <a:rPr lang="en-US" dirty="0" err="1"/>
              <a:t>aenean</a:t>
            </a:r>
            <a:r>
              <a:rPr lang="en-US" dirty="0"/>
              <a:t> non a in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.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F694449-2177-6F4F-978A-F254F736AA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93423" y="2675965"/>
            <a:ext cx="3092823" cy="3321610"/>
          </a:xfrm>
        </p:spPr>
        <p:txBody>
          <a:bodyPr/>
          <a:lstStyle>
            <a:lvl1pPr>
              <a:defRPr sz="1000">
                <a:latin typeface="+mn-lt"/>
              </a:defRPr>
            </a:lvl1pPr>
            <a:lvl2pPr>
              <a:defRPr sz="1000">
                <a:latin typeface="+mn-lt"/>
              </a:defRPr>
            </a:lvl2pPr>
            <a:lvl3pPr>
              <a:defRPr sz="1000">
                <a:latin typeface="+mn-lt"/>
              </a:defRPr>
            </a:lvl3pPr>
            <a:lvl4pPr>
              <a:defRPr sz="1000">
                <a:latin typeface="+mn-lt"/>
              </a:defRPr>
            </a:lvl4pPr>
            <a:lvl5pPr>
              <a:defRPr sz="1000">
                <a:latin typeface="+mn-lt"/>
              </a:defRPr>
            </a:lvl5pPr>
          </a:lstStyle>
          <a:p>
            <a:pPr lvl="0"/>
            <a:r>
              <a:rPr lang="en-US" dirty="0"/>
              <a:t>Felis </a:t>
            </a:r>
            <a:r>
              <a:rPr lang="en-US" dirty="0" err="1"/>
              <a:t>blandit</a:t>
            </a:r>
            <a:r>
              <a:rPr lang="en-US" dirty="0"/>
              <a:t> cursus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class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dictumst</a:t>
            </a:r>
            <a:r>
              <a:rPr lang="en-US" dirty="0"/>
              <a:t>, </a:t>
            </a:r>
            <a:r>
              <a:rPr lang="en-US" dirty="0" err="1"/>
              <a:t>aenean</a:t>
            </a:r>
            <a:r>
              <a:rPr lang="en-US" dirty="0"/>
              <a:t> non a in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nulla.Etu</a:t>
            </a:r>
            <a:r>
              <a:rPr lang="en-US" dirty="0"/>
              <a:t> </a:t>
            </a:r>
            <a:r>
              <a:rPr lang="en-US" dirty="0" err="1"/>
              <a:t>phasellus</a:t>
            </a:r>
            <a:r>
              <a:rPr lang="en-US" dirty="0"/>
              <a:t> ante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cum </a:t>
            </a:r>
            <a:r>
              <a:rPr lang="en-US" dirty="0" err="1"/>
              <a:t>risus</a:t>
            </a:r>
            <a:r>
              <a:rPr lang="en-US" dirty="0"/>
              <a:t> dolor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, integer </a:t>
            </a:r>
            <a:r>
              <a:rPr lang="en-US" dirty="0" err="1"/>
              <a:t>placerat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 mi eros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, </a:t>
            </a:r>
            <a:r>
              <a:rPr lang="en-US" dirty="0" err="1"/>
              <a:t>vehicula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ligula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pretium</a:t>
            </a:r>
            <a:r>
              <a:rPr lang="en-US" dirty="0"/>
              <a:t> lorem </a:t>
            </a:r>
            <a:r>
              <a:rPr lang="en-US" dirty="0" err="1"/>
              <a:t>primisetua</a:t>
            </a:r>
            <a:r>
              <a:rPr lang="en-US" dirty="0"/>
              <a:t>, </a:t>
            </a:r>
            <a:r>
              <a:rPr lang="en-US" dirty="0" err="1"/>
              <a:t>senectus</a:t>
            </a:r>
            <a:r>
              <a:rPr lang="en-US" dirty="0"/>
              <a:t> </a:t>
            </a:r>
            <a:r>
              <a:rPr lang="en-US" dirty="0" err="1"/>
              <a:t>habitasse</a:t>
            </a:r>
            <a:r>
              <a:rPr lang="en-US" dirty="0"/>
              <a:t> </a:t>
            </a:r>
            <a:r>
              <a:rPr lang="en-US" dirty="0" err="1"/>
              <a:t>lectusetu</a:t>
            </a:r>
            <a:r>
              <a:rPr lang="en-US" dirty="0"/>
              <a:t> </a:t>
            </a:r>
            <a:r>
              <a:rPr lang="en-US" dirty="0" err="1"/>
              <a:t>doler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donec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mi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curae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. Massa </a:t>
            </a:r>
            <a:r>
              <a:rPr lang="en-US" dirty="0" err="1"/>
              <a:t>curae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quam</a:t>
            </a:r>
            <a:r>
              <a:rPr lang="en-US" dirty="0"/>
              <a:t> =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class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dictumst</a:t>
            </a:r>
            <a:r>
              <a:rPr lang="en-US" dirty="0"/>
              <a:t>, </a:t>
            </a:r>
            <a:r>
              <a:rPr lang="en-US" dirty="0" err="1"/>
              <a:t>aenean</a:t>
            </a:r>
            <a:r>
              <a:rPr lang="en-US" dirty="0"/>
              <a:t> non a in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.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AA02C6BE-9131-7144-A89D-17B9B6BF1F0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6512" y="495992"/>
            <a:ext cx="569228" cy="139781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700" b="1" cap="all" spc="100" baseline="0">
                <a:solidFill>
                  <a:schemeClr val="tx2"/>
                </a:solidFill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E2674560-4F3C-1240-A50E-2F71A3F4C75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986247" y="495992"/>
            <a:ext cx="3488042" cy="139781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700" b="1" cap="all" spc="150" baseline="0">
                <a:solidFill>
                  <a:schemeClr val="tx2"/>
                </a:solidFill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DELOITTE DIGITAL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7196138" y="347663"/>
            <a:ext cx="1271587" cy="80448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822214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页码"/>
          <p:cNvSpPr txBox="1"/>
          <p:nvPr userDrawn="1"/>
        </p:nvSpPr>
        <p:spPr>
          <a:xfrm>
            <a:off x="11382377" y="6477001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+mj-lt"/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" name="版权"/>
          <p:cNvSpPr txBox="1"/>
          <p:nvPr userDrawn="1"/>
        </p:nvSpPr>
        <p:spPr>
          <a:xfrm>
            <a:off x="501649" y="6477001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altLang="zh-CN" sz="800" dirty="0">
                <a:latin typeface="+mj-lt"/>
                <a:ea typeface="+mn-ea"/>
                <a:cs typeface="Arial Unicode MS" panose="020B0604020202020204" pitchFamily="34" charset="-122"/>
              </a:rPr>
              <a:t>© 2025</a:t>
            </a:r>
            <a:r>
              <a:rPr lang="zh-CN" altLang="en-US" sz="800" dirty="0">
                <a:latin typeface="+mj-lt"/>
                <a:ea typeface="+mn-ea"/>
                <a:cs typeface="Arial Unicode MS" panose="020B0604020202020204" pitchFamily="34" charset="-122"/>
              </a:rPr>
              <a:t>。欲了解更多信息，请联系德勤中国。</a:t>
            </a:r>
            <a:endParaRPr lang="en-US" sz="800" dirty="0">
              <a:solidFill>
                <a:schemeClr val="tx1"/>
              </a:solidFill>
              <a:latin typeface="+mj-lt"/>
              <a:ea typeface="+mn-ea"/>
            </a:endParaRPr>
          </a:p>
        </p:txBody>
      </p:sp>
      <p:sp>
        <p:nvSpPr>
          <p:cNvPr id="10" name="文字"/>
          <p:cNvSpPr>
            <a:spLocks noGrp="1"/>
          </p:cNvSpPr>
          <p:nvPr>
            <p:ph type="body" idx="1"/>
          </p:nvPr>
        </p:nvSpPr>
        <p:spPr>
          <a:xfrm>
            <a:off x="501650" y="1665289"/>
            <a:ext cx="11188700" cy="471646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noProof="0" dirty="0"/>
              <a:t>单击此处编辑母版文本样式</a:t>
            </a:r>
          </a:p>
          <a:p>
            <a:pPr lvl="1"/>
            <a:r>
              <a:rPr lang="zh-CN" altLang="en-US" noProof="0" dirty="0"/>
              <a:t>二级</a:t>
            </a:r>
          </a:p>
          <a:p>
            <a:pPr lvl="2"/>
            <a:r>
              <a:rPr lang="zh-CN" altLang="en-US" noProof="0" dirty="0"/>
              <a:t>三级</a:t>
            </a:r>
          </a:p>
          <a:p>
            <a:pPr lvl="3"/>
            <a:r>
              <a:rPr lang="zh-CN" altLang="en-US" noProof="0" dirty="0"/>
              <a:t>四级</a:t>
            </a:r>
          </a:p>
          <a:p>
            <a:pPr lvl="4"/>
            <a:r>
              <a:rPr lang="zh-CN" altLang="en-US" noProof="0" dirty="0"/>
              <a:t>五级</a:t>
            </a:r>
            <a:endParaRPr lang="en-US" noProof="0" dirty="0"/>
          </a:p>
        </p:txBody>
      </p:sp>
      <p:sp>
        <p:nvSpPr>
          <p:cNvPr id="11" name="标题"/>
          <p:cNvSpPr>
            <a:spLocks noGrp="1"/>
          </p:cNvSpPr>
          <p:nvPr>
            <p:ph type="title"/>
          </p:nvPr>
        </p:nvSpPr>
        <p:spPr bwMode="gray">
          <a:xfrm>
            <a:off x="501651" y="317501"/>
            <a:ext cx="11188700" cy="3098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 noProof="0" dirty="0"/>
              <a:t>单击此处编辑母版标题样式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56059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9" r:id="rId1"/>
  </p:sldLayoutIdLst>
  <p:transition>
    <p:fade/>
  </p:transition>
  <p:hf hd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Calibri Light" panose="020F0302020204030204" pitchFamily="34" charset="0"/>
        </a:defRPr>
      </a:lvl1pPr>
    </p:titleStyle>
    <p:bodyStyle>
      <a:lvl1pPr marL="0" indent="0" algn="l" defTabSz="914400" rtl="0" eaLnBrk="1" latinLnBrk="0" hangingPunct="1">
        <a:spcBef>
          <a:spcPts val="0"/>
        </a:spcBef>
        <a:spcAft>
          <a:spcPts val="1000"/>
        </a:spcAft>
        <a:buSzPct val="100000"/>
        <a:buFontTx/>
        <a:buNone/>
        <a:defRPr sz="1400" b="0" kern="1200">
          <a:solidFill>
            <a:schemeClr val="tx1"/>
          </a:solidFill>
          <a:latin typeface="+mj-lt"/>
          <a:ea typeface="+mn-ea"/>
          <a:cs typeface="Calibri Light" panose="020F0302020204030204" pitchFamily="34" charset="0"/>
        </a:defRPr>
      </a:lvl1pPr>
      <a:lvl2pPr marL="139700" indent="-13970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•"/>
        <a:defRPr lang="en-US" sz="1400" b="1" kern="1200" dirty="0" smtClean="0">
          <a:solidFill>
            <a:schemeClr val="tx1"/>
          </a:solidFill>
          <a:latin typeface="+mj-lt"/>
          <a:ea typeface="+mn-ea"/>
          <a:cs typeface="Calibri Light" panose="020F0302020204030204" pitchFamily="34" charset="0"/>
        </a:defRPr>
      </a:lvl2pPr>
      <a:lvl3pPr marL="304800" indent="-13970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−"/>
        <a:defRPr lang="en-US" sz="1400" kern="120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3pPr>
      <a:lvl4pPr marL="469900" indent="-13970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◦"/>
        <a:defRPr lang="en-US" sz="1400" kern="1200" baseline="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4pPr>
      <a:lvl5pPr marL="635000" indent="-139700" algn="l" defTabSz="798513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−"/>
        <a:tabLst/>
        <a:defRPr lang="en-US" sz="1400" kern="1200" baseline="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5pPr>
      <a:lvl6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4">
          <p15:clr>
            <a:srgbClr val="F26B43"/>
          </p15:clr>
        </p15:guide>
        <p15:guide id="3" orient="horz" pos="4020">
          <p15:clr>
            <a:srgbClr val="F26B43"/>
          </p15:clr>
        </p15:guide>
        <p15:guide id="8" orient="horz" pos="4080">
          <p15:clr>
            <a:srgbClr val="F26B43"/>
          </p15:clr>
        </p15:guide>
        <p15:guide id="10" pos="7680">
          <p15:clr>
            <a:srgbClr val="F26B43"/>
          </p15:clr>
        </p15:guide>
        <p15:guide id="30" orient="horz" pos="4081">
          <p15:clr>
            <a:srgbClr val="F26B43"/>
          </p15:clr>
        </p15:guide>
        <p15:guide id="31" orient="horz" pos="2232">
          <p15:clr>
            <a:srgbClr val="F26B43"/>
          </p15:clr>
        </p15:guide>
        <p15:guide id="32" orient="horz" pos="1032">
          <p15:clr>
            <a:srgbClr val="F26B43"/>
          </p15:clr>
        </p15:guide>
        <p15:guide id="33" orient="horz" pos="192">
          <p15:clr>
            <a:srgbClr val="F26B43"/>
          </p15:clr>
        </p15:guide>
        <p15:guide id="34" pos="7368">
          <p15:clr>
            <a:srgbClr val="F26B43"/>
          </p15:clr>
        </p15:guide>
        <p15:guide id="35" pos="6288">
          <p15:clr>
            <a:srgbClr val="F26B43"/>
          </p15:clr>
        </p15:guide>
        <p15:guide id="36" pos="6168">
          <p15:clr>
            <a:srgbClr val="F26B43"/>
          </p15:clr>
        </p15:guide>
        <p15:guide id="37" pos="5088">
          <p15:clr>
            <a:srgbClr val="F26B43"/>
          </p15:clr>
        </p15:guide>
        <p15:guide id="38" pos="4968">
          <p15:clr>
            <a:srgbClr val="F26B43"/>
          </p15:clr>
        </p15:guide>
        <p15:guide id="39" pos="3912">
          <p15:clr>
            <a:srgbClr val="F26B43"/>
          </p15:clr>
        </p15:guide>
        <p15:guide id="40" pos="3768">
          <p15:clr>
            <a:srgbClr val="F26B43"/>
          </p15:clr>
        </p15:guide>
        <p15:guide id="41" pos="2592">
          <p15:clr>
            <a:srgbClr val="F26B43"/>
          </p15:clr>
        </p15:guide>
        <p15:guide id="42" pos="2712">
          <p15:clr>
            <a:srgbClr val="F26B43"/>
          </p15:clr>
        </p15:guide>
        <p15:guide id="43" pos="312">
          <p15:clr>
            <a:srgbClr val="F26B43"/>
          </p15:clr>
        </p15:guide>
        <p15:guide id="44" pos="1392">
          <p15:clr>
            <a:srgbClr val="F26B43"/>
          </p15:clr>
        </p15:guide>
        <p15:guide id="45" pos="15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87"/>
          <p:cNvSpPr>
            <a:spLocks noChangeArrowheads="1"/>
          </p:cNvSpPr>
          <p:nvPr/>
        </p:nvSpPr>
        <p:spPr bwMode="auto">
          <a:xfrm>
            <a:off x="2066362" y="1043036"/>
            <a:ext cx="307777" cy="184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prstClr val="black"/>
                </a:solidFill>
                <a:latin typeface="Cera Pro" panose="00000500000000000000"/>
                <a:ea typeface="Arial Hebrew" charset="-79"/>
                <a:cs typeface="Arial Hebrew" charset="-79"/>
                <a:sym typeface="Calibri"/>
              </a:rPr>
              <a:t>技能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ra Pro" panose="00000500000000000000"/>
              <a:ea typeface="Arial Hebrew" charset="-79"/>
              <a:cs typeface="Arial Hebrew" charset="-79"/>
              <a:sym typeface="Calibri"/>
            </a:endParaRPr>
          </a:p>
        </p:txBody>
      </p:sp>
      <p:cxnSp>
        <p:nvCxnSpPr>
          <p:cNvPr id="26" name="Straight Connector 25"/>
          <p:cNvCxnSpPr>
            <a:cxnSpLocks/>
          </p:cNvCxnSpPr>
          <p:nvPr/>
        </p:nvCxnSpPr>
        <p:spPr>
          <a:xfrm>
            <a:off x="39981" y="847114"/>
            <a:ext cx="0" cy="2157575"/>
          </a:xfrm>
          <a:prstGeom prst="line">
            <a:avLst/>
          </a:prstGeom>
          <a:noFill/>
          <a:ln w="76200" cap="flat" cmpd="sng" algn="ctr">
            <a:solidFill>
              <a:srgbClr val="0070C0"/>
            </a:solidFill>
            <a:prstDash val="solid"/>
            <a:miter lim="800000"/>
          </a:ln>
          <a:effectLst/>
        </p:spPr>
      </p:cxnSp>
      <p:sp>
        <p:nvSpPr>
          <p:cNvPr id="34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274639" y="3745800"/>
            <a:ext cx="3531324" cy="2895857"/>
          </a:xfrm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buClr>
                <a:srgbClr val="787878"/>
              </a:buClr>
              <a:defRPr/>
            </a:pPr>
            <a:r>
              <a:rPr lang="zh-CN" altLang="en-US" sz="1000" dirty="0">
                <a:solidFill>
                  <a:srgbClr val="000000"/>
                </a:solidFill>
                <a:latin typeface="+mn-ea"/>
              </a:rPr>
              <a:t>陈勇是德勤咨询经验丰富的架构师，拥有在电子商务、能源、美容、体育及数字营销等行业拥有丰富的项目交付与系统架构设计经验。他长期担任技术负责人与项目经理角色，主导多个大型企业级系统的端到端交付、架构规划及技术落地。</a:t>
            </a:r>
          </a:p>
          <a:p>
            <a:pPr>
              <a:lnSpc>
                <a:spcPct val="150000"/>
              </a:lnSpc>
              <a:spcAft>
                <a:spcPts val="600"/>
              </a:spcAft>
              <a:buClr>
                <a:srgbClr val="787878"/>
              </a:buClr>
              <a:defRPr/>
            </a:pPr>
            <a:r>
              <a:rPr lang="zh-CN" altLang="en-US" sz="1000" dirty="0">
                <a:solidFill>
                  <a:srgbClr val="000000"/>
                </a:solidFill>
                <a:latin typeface="+mn-ea"/>
              </a:rPr>
              <a:t>陈勇熟悉阿里云与</a:t>
            </a:r>
            <a:r>
              <a:rPr lang="en-US" altLang="zh-CN" sz="1000" dirty="0">
                <a:solidFill>
                  <a:srgbClr val="000000"/>
                </a:solidFill>
                <a:latin typeface="+mn-ea"/>
              </a:rPr>
              <a:t>AWS</a:t>
            </a:r>
            <a:r>
              <a:rPr lang="zh-CN" altLang="en-US" sz="1000" dirty="0">
                <a:solidFill>
                  <a:srgbClr val="000000"/>
                </a:solidFill>
                <a:latin typeface="+mn-ea"/>
              </a:rPr>
              <a:t>云平台的架构设计与资源管理，具备在云原生环境中构建高可用、高性能分布式系统的能力。他拥有从系统架构设计、持续集成与交付到运维监控体系构建的全链路技术经验。在项目管理方面，陈勇擅长基于敏捷方法论（</a:t>
            </a:r>
            <a:r>
              <a:rPr lang="en-US" altLang="zh-CN" sz="1000" dirty="0">
                <a:solidFill>
                  <a:srgbClr val="000000"/>
                </a:solidFill>
                <a:latin typeface="+mn-ea"/>
              </a:rPr>
              <a:t>Scrum/Kanban</a:t>
            </a:r>
            <a:r>
              <a:rPr lang="zh-CN" altLang="en-US" sz="1000" dirty="0">
                <a:solidFill>
                  <a:srgbClr val="000000"/>
                </a:solidFill>
                <a:latin typeface="+mn-ea"/>
              </a:rPr>
              <a:t>）的项目规划、进度与成本控制、风险管理、质量保证及客户关系管理，能够在复杂多团队环境中高效推动项目实施，确保交付质量与客户价值最大化。</a:t>
            </a:r>
          </a:p>
          <a:p>
            <a:pPr>
              <a:lnSpc>
                <a:spcPct val="150000"/>
              </a:lnSpc>
              <a:spcAft>
                <a:spcPts val="600"/>
              </a:spcAft>
              <a:buClr>
                <a:srgbClr val="787878"/>
              </a:buClr>
              <a:defRPr/>
            </a:pPr>
            <a:endParaRPr lang="zh-CN" altLang="en-US" sz="10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5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2066363" y="1305006"/>
            <a:ext cx="1751916" cy="1231106"/>
          </a:xfrm>
        </p:spPr>
        <p:txBody>
          <a:bodyPr vert="horz" lIns="0" tIns="0" rIns="0" bIns="0" rtlCol="0" anchor="t" anchorCtr="0">
            <a:spAutoFit/>
          </a:bodyPr>
          <a:lstStyle/>
          <a:p>
            <a:pPr marL="172800" indent="-17280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altLang="zh-CN" dirty="0">
                <a:ea typeface="Open Sans"/>
                <a:cs typeface="Calibri Light"/>
              </a:rPr>
              <a:t>Java</a:t>
            </a:r>
          </a:p>
          <a:p>
            <a:pPr marL="172800" indent="-17280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dirty="0">
                <a:ea typeface="Open Sans"/>
                <a:cs typeface="Calibri Light"/>
              </a:rPr>
              <a:t>Python</a:t>
            </a:r>
          </a:p>
          <a:p>
            <a:pPr marL="172800" indent="-17280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dirty="0">
                <a:ea typeface="Open Sans"/>
                <a:cs typeface="Calibri Light"/>
              </a:rPr>
              <a:t>Javascript</a:t>
            </a:r>
            <a:endParaRPr lang="en-US" altLang="zh-CN" dirty="0">
              <a:ea typeface="Open Sans"/>
              <a:cs typeface="Calibri Light"/>
            </a:endParaRPr>
          </a:p>
          <a:p>
            <a:pPr marL="172800" indent="-17280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ea typeface="Open Sans"/>
                <a:cs typeface="Calibri Light"/>
              </a:rPr>
              <a:t>CI/CD</a:t>
            </a:r>
          </a:p>
          <a:p>
            <a:pPr marL="172800" indent="-17280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ea typeface="Open Sans"/>
                <a:cs typeface="Calibri Light"/>
              </a:rPr>
              <a:t>Spark</a:t>
            </a:r>
          </a:p>
          <a:p>
            <a:pPr marL="172800" indent="-17280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ea typeface="Open Sans"/>
                <a:cs typeface="Calibri Light"/>
              </a:rPr>
              <a:t>Ali Cloud</a:t>
            </a:r>
          </a:p>
          <a:p>
            <a:pPr>
              <a:spcAft>
                <a:spcPts val="0"/>
              </a:spcAft>
            </a:pPr>
            <a:endParaRPr lang="en-US" dirty="0">
              <a:ea typeface="Open Sans"/>
              <a:cs typeface="Calibri Light"/>
            </a:endParaRPr>
          </a:p>
          <a:p>
            <a:pPr marL="172800" indent="-17280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fr-FR" dirty="0">
              <a:ea typeface="Open Sans"/>
              <a:cs typeface="Calibri Light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C787E75-1F7C-10A6-43F6-E14039980462}"/>
              </a:ext>
            </a:extLst>
          </p:cNvPr>
          <p:cNvSpPr>
            <a:spLocks noGrp="1"/>
          </p:cNvSpPr>
          <p:nvPr/>
        </p:nvSpPr>
        <p:spPr bwMode="gray">
          <a:xfrm>
            <a:off x="274638" y="379224"/>
            <a:ext cx="10923714" cy="3341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Calibri Light" panose="020F0302020204030204" pitchFamily="34" charset="0"/>
              </a:defRPr>
            </a:lvl1pPr>
          </a:lstStyle>
          <a:p>
            <a:r>
              <a:rPr lang="zh-CN" altLang="en-US" b="1" dirty="0">
                <a:latin typeface="Cera Pro" panose="00000500000000000000"/>
              </a:rPr>
              <a:t>陈勇</a:t>
            </a:r>
            <a:r>
              <a:rPr lang="en-US" altLang="zh-CN" b="1" dirty="0">
                <a:latin typeface="Cera Pro" panose="00000500000000000000"/>
              </a:rPr>
              <a:t> – </a:t>
            </a:r>
            <a:r>
              <a:rPr lang="zh-CN" altLang="en-US" b="1" dirty="0">
                <a:latin typeface="Cera Pro" panose="00000500000000000000"/>
              </a:rPr>
              <a:t>企业架构师</a:t>
            </a:r>
          </a:p>
        </p:txBody>
      </p:sp>
      <p:sp>
        <p:nvSpPr>
          <p:cNvPr id="6" name="Rectangle 87">
            <a:extLst>
              <a:ext uri="{FF2B5EF4-FFF2-40B4-BE49-F238E27FC236}">
                <a16:creationId xmlns:a16="http://schemas.microsoft.com/office/drawing/2014/main" id="{2E7EEBFF-9AD7-34AC-FF47-E501AFD23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8" y="3504591"/>
            <a:ext cx="615553" cy="184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ra Pro" panose="00000500000000000000"/>
                <a:ea typeface="Arial Hebrew" charset="-79"/>
                <a:cs typeface="Arial Hebrew" charset="-79"/>
                <a:sym typeface="Calibri"/>
              </a:rPr>
              <a:t>自我介绍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ra Pro" panose="00000500000000000000"/>
              <a:ea typeface="Arial Hebrew" charset="-79"/>
              <a:cs typeface="Arial Hebrew" charset="-79"/>
              <a:sym typeface="Calibri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379920A-781C-55E5-DC04-40413A92AA15}"/>
              </a:ext>
            </a:extLst>
          </p:cNvPr>
          <p:cNvGrpSpPr/>
          <p:nvPr/>
        </p:nvGrpSpPr>
        <p:grpSpPr>
          <a:xfrm>
            <a:off x="2098307" y="2574695"/>
            <a:ext cx="750205" cy="429994"/>
            <a:chOff x="9405378" y="2530472"/>
            <a:chExt cx="750205" cy="429994"/>
          </a:xfrm>
        </p:grpSpPr>
        <p:sp>
          <p:nvSpPr>
            <p:cNvPr id="23" name="Rectangle 87"/>
            <p:cNvSpPr>
              <a:spLocks noChangeArrowheads="1"/>
            </p:cNvSpPr>
            <p:nvPr/>
          </p:nvSpPr>
          <p:spPr bwMode="auto">
            <a:xfrm>
              <a:off x="9405378" y="2530472"/>
              <a:ext cx="307777" cy="18466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ra Pro" panose="00000500000000000000"/>
                  <a:ea typeface="Arial Hebrew" charset="-79"/>
                  <a:cs typeface="Arial Hebrew" charset="-79"/>
                  <a:sym typeface="Calibri"/>
                </a:rPr>
                <a:t>语言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ra Pro" panose="00000500000000000000"/>
                <a:ea typeface="Arial Hebrew" charset="-79"/>
                <a:cs typeface="Arial Hebrew" charset="-79"/>
                <a:sym typeface="Calibri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DC6FDDE-CE10-98CC-F43D-E2429AFA4609}"/>
                </a:ext>
              </a:extLst>
            </p:cNvPr>
            <p:cNvSpPr txBox="1"/>
            <p:nvPr/>
          </p:nvSpPr>
          <p:spPr>
            <a:xfrm>
              <a:off x="9405378" y="2788111"/>
              <a:ext cx="750205" cy="17235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120000"/>
                </a:lnSpc>
                <a:spcAft>
                  <a:spcPts val="1000"/>
                </a:spcAft>
                <a:buSzPct val="100000"/>
              </a:pPr>
              <a:r>
                <a:rPr lang="en-US" altLang="zh-CN" sz="1000" dirty="0">
                  <a:latin typeface="Cera Pro" panose="00000500000000000000"/>
                </a:rPr>
                <a:t>English  - CET4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55839070-C0CC-F81A-10EB-516FA36E2765}"/>
              </a:ext>
            </a:extLst>
          </p:cNvPr>
          <p:cNvGrpSpPr/>
          <p:nvPr/>
        </p:nvGrpSpPr>
        <p:grpSpPr>
          <a:xfrm>
            <a:off x="9168608" y="3097238"/>
            <a:ext cx="1562892" cy="1079789"/>
            <a:chOff x="9405378" y="4028634"/>
            <a:chExt cx="1562892" cy="1079789"/>
          </a:xfrm>
        </p:grpSpPr>
        <p:sp>
          <p:nvSpPr>
            <p:cNvPr id="25" name="Rectangle 87"/>
            <p:cNvSpPr>
              <a:spLocks noChangeArrowheads="1"/>
            </p:cNvSpPr>
            <p:nvPr/>
          </p:nvSpPr>
          <p:spPr bwMode="auto">
            <a:xfrm>
              <a:off x="9405686" y="4028634"/>
              <a:ext cx="615553" cy="18466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ra Pro" panose="00000500000000000000"/>
                  <a:ea typeface="Arial Hebrew" charset="-79"/>
                  <a:cs typeface="Arial Hebrew" charset="-79"/>
                  <a:sym typeface="Calibri"/>
                </a:rPr>
                <a:t>主要客户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ra Pro" panose="00000500000000000000"/>
                <a:ea typeface="Arial Hebrew" charset="-79"/>
                <a:cs typeface="Arial Hebrew" charset="-79"/>
                <a:sym typeface="Calibri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8C24942D-0740-CF3E-DAD5-D6F12092E645}"/>
                </a:ext>
              </a:extLst>
            </p:cNvPr>
            <p:cNvSpPr txBox="1"/>
            <p:nvPr/>
          </p:nvSpPr>
          <p:spPr>
            <a:xfrm>
              <a:off x="9405378" y="4390278"/>
              <a:ext cx="1562892" cy="71814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71450" indent="-171450">
                <a:spcAft>
                  <a:spcPts val="100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zh-CN" altLang="en-US" sz="1000" dirty="0">
                  <a:latin typeface="+mn-ea"/>
                  <a:ea typeface="+mn-ea"/>
                  <a:cs typeface="Arial Unicode MS" pitchFamily="34" charset="-122"/>
                </a:rPr>
                <a:t>某全球</a:t>
              </a:r>
              <a:r>
                <a:rPr lang="zh-CN" altLang="en-US" sz="1000" dirty="0">
                  <a:latin typeface="+mn-ea"/>
                  <a:cs typeface="Arial Unicode MS" pitchFamily="34" charset="-122"/>
                </a:rPr>
                <a:t>知名</a:t>
              </a:r>
              <a:r>
                <a:rPr lang="zh-CN" altLang="en-US" sz="1000" dirty="0">
                  <a:latin typeface="+mn-ea"/>
                  <a:ea typeface="+mn-ea"/>
                  <a:cs typeface="Arial Unicode MS" pitchFamily="34" charset="-122"/>
                </a:rPr>
                <a:t>电脑企业</a:t>
              </a:r>
              <a:endParaRPr lang="en-US" altLang="zh-CN" sz="1000" dirty="0">
                <a:latin typeface="+mn-ea"/>
                <a:ea typeface="+mn-ea"/>
                <a:cs typeface="Arial Unicode MS" pitchFamily="34" charset="-122"/>
              </a:endParaRPr>
            </a:p>
            <a:p>
              <a:pPr marL="171450" indent="-171450" algn="l">
                <a:spcAft>
                  <a:spcPts val="100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zh-CN" altLang="en-US" sz="1000" dirty="0">
                  <a:latin typeface="+mn-ea"/>
                  <a:ea typeface="+mn-ea"/>
                  <a:cs typeface="Arial Unicode MS" pitchFamily="34" charset="-122"/>
                </a:rPr>
                <a:t>某全球知名鞋服企业</a:t>
              </a:r>
              <a:endParaRPr lang="en-US" altLang="zh-CN" sz="1000" dirty="0">
                <a:latin typeface="+mn-ea"/>
                <a:ea typeface="+mn-ea"/>
                <a:cs typeface="Arial Unicode MS" pitchFamily="34" charset="-122"/>
              </a:endParaRPr>
            </a:p>
            <a:p>
              <a:pPr marL="171450" indent="-171450">
                <a:spcAft>
                  <a:spcPts val="100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zh-CN" altLang="en-US" sz="1000" dirty="0">
                  <a:latin typeface="+mn-ea"/>
                  <a:ea typeface="+mn-ea"/>
                  <a:cs typeface="Arial Unicode MS" pitchFamily="34" charset="-122"/>
                </a:rPr>
                <a:t>某全球著名车企</a:t>
              </a:r>
              <a:endParaRPr lang="en-US" altLang="zh-CN" sz="1000" dirty="0">
                <a:latin typeface="Cera Pro" panose="00000500000000000000"/>
              </a:endParaRPr>
            </a:p>
          </p:txBody>
        </p:sp>
      </p:grpSp>
      <p:graphicFrame>
        <p:nvGraphicFramePr>
          <p:cNvPr id="3" name="Table 16">
            <a:extLst>
              <a:ext uri="{FF2B5EF4-FFF2-40B4-BE49-F238E27FC236}">
                <a16:creationId xmlns:a16="http://schemas.microsoft.com/office/drawing/2014/main" id="{B27B2F94-903A-C9A0-D474-06C6BD6A85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0925095"/>
              </p:ext>
            </p:extLst>
          </p:nvPr>
        </p:nvGraphicFramePr>
        <p:xfrm>
          <a:off x="4052935" y="832241"/>
          <a:ext cx="4869008" cy="59479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9008">
                  <a:extLst>
                    <a:ext uri="{9D8B030D-6E8A-4147-A177-3AD203B41FA5}">
                      <a16:colId xmlns:a16="http://schemas.microsoft.com/office/drawing/2014/main" val="2515871495"/>
                    </a:ext>
                  </a:extLst>
                </a:gridCol>
              </a:tblGrid>
              <a:tr h="2701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1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项目经验（部分）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8529603"/>
                  </a:ext>
                </a:extLst>
              </a:tr>
              <a:tr h="22050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latin typeface="+mn-ea"/>
                          <a:ea typeface="+mn-ea"/>
                          <a:cs typeface="Arial Unicode MS" pitchFamily="34" charset="-122"/>
                        </a:rPr>
                        <a:t>某</a:t>
                      </a:r>
                      <a:r>
                        <a:rPr lang="zh-CN" altLang="en-US" sz="10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 Unicode MS" pitchFamily="34" charset="-122"/>
                        </a:rPr>
                        <a:t>全球知名电脑企业</a:t>
                      </a:r>
                      <a:r>
                        <a:rPr lang="en-US" altLang="zh-CN" sz="1000" b="1" dirty="0">
                          <a:latin typeface="+mn-ea"/>
                          <a:ea typeface="+mn-ea"/>
                          <a:cs typeface="Arial Unicode MS" pitchFamily="34" charset="-122"/>
                        </a:rPr>
                        <a:t>| 2018</a:t>
                      </a:r>
                      <a:r>
                        <a:rPr lang="zh-CN" altLang="en-US" sz="1000" b="1" dirty="0">
                          <a:latin typeface="+mn-ea"/>
                          <a:ea typeface="+mn-ea"/>
                          <a:cs typeface="Arial Unicode MS" pitchFamily="34" charset="-122"/>
                        </a:rPr>
                        <a:t>年</a:t>
                      </a:r>
                      <a:r>
                        <a:rPr lang="en-US" altLang="zh-CN" sz="1000" b="1" dirty="0">
                          <a:latin typeface="+mn-ea"/>
                          <a:ea typeface="+mn-ea"/>
                          <a:cs typeface="Arial Unicode MS" pitchFamily="34" charset="-122"/>
                        </a:rPr>
                        <a:t>5</a:t>
                      </a:r>
                      <a:r>
                        <a:rPr lang="zh-CN" altLang="en-US" sz="1000" b="1" dirty="0">
                          <a:latin typeface="+mn-ea"/>
                          <a:ea typeface="+mn-ea"/>
                          <a:cs typeface="Arial Unicode MS" pitchFamily="34" charset="-122"/>
                        </a:rPr>
                        <a:t>月 </a:t>
                      </a:r>
                      <a:r>
                        <a:rPr lang="en-US" altLang="zh-CN" sz="1000" b="1" dirty="0">
                          <a:latin typeface="+mn-ea"/>
                          <a:ea typeface="+mn-ea"/>
                          <a:cs typeface="Arial Unicode MS" pitchFamily="34" charset="-122"/>
                        </a:rPr>
                        <a:t> | </a:t>
                      </a:r>
                      <a:r>
                        <a:rPr lang="zh-CN" altLang="en-US" sz="1000" b="1" dirty="0">
                          <a:latin typeface="+mn-ea"/>
                          <a:ea typeface="+mn-ea"/>
                          <a:cs typeface="Arial Unicode MS" pitchFamily="34" charset="-122"/>
                        </a:rPr>
                        <a:t>系统</a:t>
                      </a:r>
                      <a:r>
                        <a:rPr lang="zh-CN" altLang="en-US" sz="1000" b="1" dirty="0">
                          <a:latin typeface="+mn-ea"/>
                          <a:ea typeface="+mn-ea"/>
                          <a:cs typeface="Open Sans" panose="020B0606030504020204" pitchFamily="34" charset="0"/>
                          <a:sym typeface="+mn-ea"/>
                        </a:rPr>
                        <a:t>架构师</a:t>
                      </a:r>
                      <a:endParaRPr lang="en-US" altLang="zh-CN" sz="1000" b="1" dirty="0">
                        <a:latin typeface="+mn-ea"/>
                        <a:ea typeface="+mn-ea"/>
                        <a:cs typeface="Open Sans" panose="020B0606030504020204" pitchFamily="34" charset="0"/>
                        <a:sym typeface="+mn-ea"/>
                      </a:endParaRPr>
                    </a:p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实施</a:t>
                      </a:r>
                      <a:r>
                        <a:rPr lang="en-US" altLang="zh-CN" sz="10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MDM</a:t>
                      </a:r>
                      <a:r>
                        <a:rPr lang="zh-CN" altLang="en-US" sz="10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系统，采用事件驱动，面向供应链、财务、人力资源等业务域，统一客户、供应商、物料、成本中心等主数据，支撑异构系统（</a:t>
                      </a:r>
                      <a:r>
                        <a:rPr lang="en-US" altLang="zh-CN" sz="10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SAP</a:t>
                      </a:r>
                      <a:r>
                        <a:rPr lang="zh-CN" altLang="en-US" sz="10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、</a:t>
                      </a:r>
                      <a:r>
                        <a:rPr lang="en-US" altLang="zh-CN" sz="10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Oracle EBS</a:t>
                      </a:r>
                      <a:r>
                        <a:rPr lang="zh-CN" altLang="en-US" sz="10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、</a:t>
                      </a:r>
                      <a:r>
                        <a:rPr lang="en-US" altLang="zh-CN" sz="10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Salesforce</a:t>
                      </a:r>
                      <a:r>
                        <a:rPr lang="zh-CN" altLang="en-US" sz="10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、</a:t>
                      </a:r>
                      <a:r>
                        <a:rPr lang="en-US" altLang="zh-CN" sz="10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Ariba</a:t>
                      </a:r>
                      <a:r>
                        <a:rPr lang="zh-CN" altLang="en-US" sz="10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）数据一致性。</a:t>
                      </a:r>
                      <a:endParaRPr lang="en-US" altLang="zh-CN" sz="1000" b="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Open Sans" panose="020B0606030504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1.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使用拉链表来存储数据，任何字段的改动都会被记录下来，支持随时回溯和对比差异。</a:t>
                      </a:r>
                      <a:endParaRPr lang="en-US" altLang="zh-CN" sz="1000" kern="1200" dirty="0">
                        <a:solidFill>
                          <a:schemeClr val="dk1"/>
                        </a:solidFill>
                        <a:latin typeface="Calibri Light" panose="020F0302020204030204" pitchFamily="34" charset="0"/>
                        <a:ea typeface="+mn-ea"/>
                        <a:cs typeface="Calibri Light" panose="020F03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2.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上下游系统每日自动同步：</a:t>
                      </a:r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SAP 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新发物料 → 平台去重 → 回写统一编码给 </a:t>
                      </a:r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Oracle 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和 </a:t>
                      </a:r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Salesforce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，三端数据保持一致。</a:t>
                      </a:r>
                      <a:endParaRPr lang="en-US" altLang="zh-CN" sz="1000" kern="1200" dirty="0">
                        <a:solidFill>
                          <a:schemeClr val="dk1"/>
                        </a:solidFill>
                        <a:latin typeface="Calibri Light" panose="020F0302020204030204" pitchFamily="34" charset="0"/>
                        <a:ea typeface="+mn-ea"/>
                        <a:cs typeface="Calibri Light" panose="020F03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3.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将主数据通过 </a:t>
                      </a:r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Kafka 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实时写入 </a:t>
                      </a:r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Elasticsearch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，配置 </a:t>
                      </a:r>
                      <a:r>
                        <a:rPr lang="en-US" altLang="zh-CN" sz="1000" kern="1200" dirty="0" err="1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ik</a:t>
                      </a:r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/pinyin 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分词，实现模糊、拼音、英文同义词搜索。对外封装成 </a:t>
                      </a:r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API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，实现快速搜索查询。</a:t>
                      </a:r>
                      <a:endParaRPr lang="en-US" altLang="zh-CN" sz="1000" kern="1200" dirty="0">
                        <a:solidFill>
                          <a:schemeClr val="dk1"/>
                        </a:solidFill>
                        <a:latin typeface="Calibri Light" panose="020F0302020204030204" pitchFamily="34" charset="0"/>
                        <a:ea typeface="+mn-ea"/>
                        <a:cs typeface="Calibri Light" panose="020F03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4.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数据湖仓一体：</a:t>
                      </a:r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Golden Record 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热数据存 </a:t>
                      </a:r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PostgreSQL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；温</a:t>
                      </a:r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/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冷数据入 </a:t>
                      </a:r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Snowflake on AWS 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做 </a:t>
                      </a:r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AP 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分析</a:t>
                      </a:r>
                      <a:endParaRPr lang="en-US" altLang="zh-CN" sz="1000" kern="1200" dirty="0">
                        <a:solidFill>
                          <a:schemeClr val="dk1"/>
                        </a:solidFill>
                        <a:latin typeface="Calibri Light" panose="020F0302020204030204" pitchFamily="34" charset="0"/>
                        <a:ea typeface="+mn-ea"/>
                        <a:cs typeface="Calibri Light" panose="020F03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000" b="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Open Sans" panose="020B0606030504020204" pitchFamily="34" charset="0"/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0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614926"/>
                  </a:ext>
                </a:extLst>
              </a:tr>
              <a:tr h="161108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CN" altLang="en-US" sz="10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 Unicode MS" pitchFamily="34" charset="-122"/>
                        </a:rPr>
                        <a:t>某全球知名鞋服企业</a:t>
                      </a:r>
                      <a:r>
                        <a:rPr lang="en-AU" altLang="zh-CN" sz="1000" b="1" dirty="0">
                          <a:latin typeface="+mn-ea"/>
                          <a:ea typeface="+mn-ea"/>
                          <a:cs typeface="Arial Unicode MS" pitchFamily="34" charset="-122"/>
                        </a:rPr>
                        <a:t>| 2020</a:t>
                      </a:r>
                      <a:r>
                        <a:rPr lang="zh-CN" altLang="en-US" sz="1000" b="1" dirty="0">
                          <a:latin typeface="+mn-ea"/>
                          <a:ea typeface="+mn-ea"/>
                          <a:cs typeface="Arial Unicode MS" pitchFamily="34" charset="-122"/>
                        </a:rPr>
                        <a:t>年</a:t>
                      </a:r>
                      <a:r>
                        <a:rPr lang="en-US" altLang="zh-CN" sz="1000" b="1" dirty="0">
                          <a:latin typeface="+mn-ea"/>
                          <a:ea typeface="+mn-ea"/>
                          <a:cs typeface="Arial Unicode MS" pitchFamily="34" charset="-122"/>
                        </a:rPr>
                        <a:t>12</a:t>
                      </a:r>
                      <a:r>
                        <a:rPr lang="zh-CN" altLang="en-US" sz="1000" b="1" dirty="0">
                          <a:latin typeface="+mn-ea"/>
                          <a:ea typeface="+mn-ea"/>
                          <a:cs typeface="Arial Unicode MS" pitchFamily="34" charset="-122"/>
                        </a:rPr>
                        <a:t>月 </a:t>
                      </a:r>
                      <a:r>
                        <a:rPr lang="en-US" altLang="zh-CN" sz="1000" b="1" dirty="0">
                          <a:latin typeface="+mn-ea"/>
                          <a:ea typeface="+mn-ea"/>
                          <a:cs typeface="Arial Unicode MS" pitchFamily="34" charset="-122"/>
                        </a:rPr>
                        <a:t>| </a:t>
                      </a:r>
                      <a:r>
                        <a:rPr lang="zh-CN" altLang="en-US" sz="1000" b="1" dirty="0">
                          <a:latin typeface="+mn-ea"/>
                          <a:ea typeface="+mn-ea"/>
                          <a:cs typeface="Arial Unicode MS" pitchFamily="34" charset="-122"/>
                        </a:rPr>
                        <a:t>数据架构师</a:t>
                      </a:r>
                    </a:p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实施商业智能和风控系统，陈勇主导了系统的整体架构设计、技术选型、数据处理架构优化和高可用部署方案 的制定。</a:t>
                      </a:r>
                    </a:p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系统涵盖交易监控、风险评分、实时警报、订单关联分析及数据规范化处理等核心模块。</a:t>
                      </a:r>
                      <a:endParaRPr lang="en-US" altLang="zh-CN" sz="1000" kern="1200" dirty="0">
                        <a:solidFill>
                          <a:schemeClr val="dk1"/>
                        </a:solidFill>
                        <a:latin typeface="Calibri Light" panose="020F0302020204030204" pitchFamily="34" charset="0"/>
                        <a:ea typeface="+mn-ea"/>
                        <a:cs typeface="Calibri Light" panose="020F0302020204030204" pitchFamily="34" charset="0"/>
                      </a:endParaRPr>
                    </a:p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项目采用</a:t>
                      </a:r>
                      <a:r>
                        <a:rPr lang="en-US" altLang="zh-CN" sz="1000" kern="1200" dirty="0" err="1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SpringCloud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编码</a:t>
                      </a:r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,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Jenkins +</a:t>
                      </a:r>
                      <a:r>
                        <a:rPr lang="en-US" altLang="zh-CN" sz="1000" kern="1200" dirty="0" err="1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ArgoCD</a:t>
                      </a:r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构建 </a:t>
                      </a:r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CI/CD 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流程，基于 </a:t>
                      </a:r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AWS CloudFormation 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进行基础设施即代码（</a:t>
                      </a:r>
                      <a:r>
                        <a:rPr lang="en-US" altLang="zh-CN" sz="1000" kern="1200" dirty="0" err="1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IaC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）管理；通过 </a:t>
                      </a:r>
                      <a:r>
                        <a:rPr lang="en-US" altLang="zh-CN" sz="1000" kern="1200" dirty="0" err="1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ElasticSearch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、</a:t>
                      </a:r>
                      <a:r>
                        <a:rPr lang="en-US" altLang="zh-CN" sz="1000" kern="1200" dirty="0" err="1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ClickHouse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、</a:t>
                      </a:r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Spark 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实现大规模数据处理与实时分析，显著提升数据处理性能与可维护性。</a:t>
                      </a:r>
                    </a:p>
                    <a:p>
                      <a:pPr marL="0" indent="0" eaLnBrk="0" fontAlgn="base" hangingPunct="0"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None/>
                      </a:pPr>
                      <a:endParaRPr lang="en-US" altLang="zh-CN" sz="1000" b="0" dirty="0">
                        <a:latin typeface="+mn-ea"/>
                        <a:ea typeface="+mn-ea"/>
                        <a:cs typeface="Open Sans" panose="020B0606030504020204" pitchFamily="34" charset="0"/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A0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0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167387"/>
                  </a:ext>
                </a:extLst>
              </a:tr>
              <a:tr h="1803586">
                <a:tc>
                  <a:txBody>
                    <a:bodyPr/>
                    <a:lstStyle/>
                    <a:p>
                      <a:pPr marL="0" marR="117475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787878"/>
                        </a:buClr>
                        <a:buSzPct val="75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CN" altLang="en-US" sz="10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 Unicode MS" pitchFamily="34" charset="-122"/>
                        </a:rPr>
                        <a:t>某全球著名车企</a:t>
                      </a:r>
                      <a:r>
                        <a:rPr lang="en-US" altLang="zh-CN" sz="10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 Unicode MS" pitchFamily="34" charset="-122"/>
                        </a:rPr>
                        <a:t>|</a:t>
                      </a:r>
                      <a:r>
                        <a:rPr lang="zh-CN" altLang="en-US" sz="10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 Unicode MS" pitchFamily="34" charset="-122"/>
                        </a:rPr>
                        <a:t> </a:t>
                      </a:r>
                      <a:r>
                        <a:rPr lang="en-US" altLang="zh-CN" sz="1000" b="1" dirty="0">
                          <a:latin typeface="+mn-ea"/>
                          <a:ea typeface="+mn-ea"/>
                          <a:cs typeface="Arial Unicode MS" pitchFamily="34" charset="-122"/>
                        </a:rPr>
                        <a:t>2024</a:t>
                      </a:r>
                      <a:r>
                        <a:rPr lang="zh-CN" altLang="en-US" sz="1000" b="1" dirty="0">
                          <a:latin typeface="+mn-ea"/>
                          <a:ea typeface="+mn-ea"/>
                          <a:cs typeface="Arial Unicode MS" pitchFamily="34" charset="-122"/>
                        </a:rPr>
                        <a:t>年</a:t>
                      </a:r>
                      <a:r>
                        <a:rPr lang="en-US" altLang="zh-CN" sz="1000" b="1" dirty="0">
                          <a:latin typeface="+mn-ea"/>
                          <a:ea typeface="+mn-ea"/>
                          <a:cs typeface="Arial Unicode MS" pitchFamily="34" charset="-122"/>
                        </a:rPr>
                        <a:t>10</a:t>
                      </a:r>
                      <a:r>
                        <a:rPr lang="zh-CN" altLang="en-US" sz="1000" b="1" dirty="0">
                          <a:latin typeface="+mn-ea"/>
                          <a:ea typeface="+mn-ea"/>
                          <a:cs typeface="Arial Unicode MS" pitchFamily="34" charset="-122"/>
                        </a:rPr>
                        <a:t>月 </a:t>
                      </a:r>
                      <a:r>
                        <a:rPr lang="en-US" altLang="zh-CN" sz="1000" b="1" dirty="0">
                          <a:latin typeface="+mn-ea"/>
                          <a:ea typeface="+mn-ea"/>
                          <a:cs typeface="Arial Unicode MS" pitchFamily="34" charset="-122"/>
                        </a:rPr>
                        <a:t>| </a:t>
                      </a:r>
                      <a:r>
                        <a:rPr lang="zh-CN" altLang="en-US" sz="1000" b="1" dirty="0">
                          <a:latin typeface="+mn-ea"/>
                          <a:ea typeface="+mn-ea"/>
                          <a:cs typeface="Arial Unicode MS" pitchFamily="34" charset="-122"/>
                        </a:rPr>
                        <a:t>解决方案架构师</a:t>
                      </a:r>
                      <a:endParaRPr lang="en-US" altLang="zh-CN" sz="1000" b="1" dirty="0">
                        <a:latin typeface="+mn-ea"/>
                        <a:ea typeface="+mn-ea"/>
                        <a:cs typeface="Arial Unicode MS" pitchFamily="34" charset="-122"/>
                      </a:endParaRPr>
                    </a:p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作为数字化营销系统（</a:t>
                      </a:r>
                      <a:r>
                        <a:rPr lang="en-US" altLang="zh-CN" sz="10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DM Hub</a:t>
                      </a:r>
                      <a:r>
                        <a:rPr lang="zh-CN" altLang="en-US" sz="10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）项目的总体架构负责人，主导系统从架构设计、技术选型、开发规范制定到交付实施的全流程工作。</a:t>
                      </a:r>
                    </a:p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1. </a:t>
                      </a:r>
                      <a:r>
                        <a:rPr lang="zh-CN" altLang="en-US" sz="10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领导团队成功实现了基于</a:t>
                      </a:r>
                      <a:r>
                        <a:rPr lang="en-US" altLang="zh-CN" sz="10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Java</a:t>
                      </a:r>
                      <a:r>
                        <a:rPr lang="zh-CN" altLang="en-US" sz="10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和</a:t>
                      </a:r>
                      <a:r>
                        <a:rPr lang="en-US" altLang="zh-CN" sz="1000" dirty="0" err="1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SpringCloud</a:t>
                      </a:r>
                      <a:r>
                        <a:rPr lang="zh-CN" altLang="en-US" sz="10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的微服务架构</a:t>
                      </a:r>
                      <a:r>
                        <a:rPr lang="en-US" altLang="zh-CN" sz="10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,</a:t>
                      </a:r>
                      <a:r>
                        <a:rPr lang="zh-CN" altLang="en-US" sz="10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系统核心功能包括客户细分、自动化工作流、消息推送及大规模数据处理。</a:t>
                      </a:r>
                    </a:p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2. </a:t>
                      </a:r>
                      <a:r>
                        <a:rPr lang="zh-CN" altLang="en-US" sz="10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数据处理与分析优化：通过采用</a:t>
                      </a:r>
                      <a:r>
                        <a:rPr lang="en-US" altLang="zh-CN" sz="10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Kudu</a:t>
                      </a:r>
                      <a:r>
                        <a:rPr lang="zh-CN" altLang="en-US" sz="10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、</a:t>
                      </a:r>
                      <a:r>
                        <a:rPr lang="en-US" altLang="zh-CN" sz="10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Impala</a:t>
                      </a:r>
                      <a:r>
                        <a:rPr lang="zh-CN" altLang="en-US" sz="10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和</a:t>
                      </a:r>
                      <a:r>
                        <a:rPr lang="en-US" altLang="zh-CN" sz="1000" dirty="0" err="1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DataBricks</a:t>
                      </a:r>
                      <a:r>
                        <a:rPr lang="zh-CN" altLang="en-US" sz="10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等技术</a:t>
                      </a:r>
                      <a:r>
                        <a:rPr lang="en-US" altLang="zh-CN" sz="10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,</a:t>
                      </a:r>
                      <a:r>
                        <a:rPr lang="zh-CN" altLang="en-US" sz="10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优化了数据存储与查询流程，大幅提升了营销数据处理与分析的效率。</a:t>
                      </a:r>
                    </a:p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3. </a:t>
                      </a:r>
                      <a:r>
                        <a:rPr lang="zh-CN" altLang="en-US" sz="10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通过架构优化与云原生实践，系统实现了弹性伸缩、快速迭代与高并发稳定运行，显著提升了营销业务的智能化与响应效率。</a:t>
                      </a:r>
                      <a:endParaRPr lang="zh-CN" altLang="zh-CN" sz="10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A0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0D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6269000"/>
                  </a:ext>
                </a:extLst>
              </a:tr>
            </a:tbl>
          </a:graphicData>
        </a:graphic>
      </p:graphicFrame>
      <p:grpSp>
        <p:nvGrpSpPr>
          <p:cNvPr id="10" name="组合 20">
            <a:extLst>
              <a:ext uri="{FF2B5EF4-FFF2-40B4-BE49-F238E27FC236}">
                <a16:creationId xmlns:a16="http://schemas.microsoft.com/office/drawing/2014/main" id="{B4CBF4E0-26CA-2FBF-DE00-AAD910EDD0A5}"/>
              </a:ext>
            </a:extLst>
          </p:cNvPr>
          <p:cNvGrpSpPr/>
          <p:nvPr/>
        </p:nvGrpSpPr>
        <p:grpSpPr>
          <a:xfrm>
            <a:off x="9156599" y="928515"/>
            <a:ext cx="1720951" cy="753204"/>
            <a:chOff x="9393677" y="4028634"/>
            <a:chExt cx="1720951" cy="753204"/>
          </a:xfrm>
        </p:grpSpPr>
        <p:sp>
          <p:nvSpPr>
            <p:cNvPr id="11" name="Rectangle 87">
              <a:extLst>
                <a:ext uri="{FF2B5EF4-FFF2-40B4-BE49-F238E27FC236}">
                  <a16:creationId xmlns:a16="http://schemas.microsoft.com/office/drawing/2014/main" id="{6F2FEAA4-4530-6F4A-3E52-3BBE58ED07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05686" y="4028634"/>
              <a:ext cx="1117294" cy="18466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 pitchFamily="34" charset="0"/>
                  <a:ea typeface="华文细黑"/>
                  <a:cs typeface="Calibri Light" panose="020F0302020204030204" pitchFamily="34" charset="0"/>
                </a:rPr>
                <a:t>资质与专业认证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ra Pro" panose="00000500000000000000"/>
                <a:ea typeface="Arial Hebrew" charset="-79"/>
                <a:cs typeface="Arial Hebrew" charset="-79"/>
                <a:sym typeface="Calibri"/>
              </a:endParaRPr>
            </a:p>
          </p:txBody>
        </p:sp>
        <p:sp>
          <p:nvSpPr>
            <p:cNvPr id="13" name="文本框 11">
              <a:extLst>
                <a:ext uri="{FF2B5EF4-FFF2-40B4-BE49-F238E27FC236}">
                  <a16:creationId xmlns:a16="http://schemas.microsoft.com/office/drawing/2014/main" id="{677129ED-835F-EE4D-95F6-338D5001A267}"/>
                </a:ext>
              </a:extLst>
            </p:cNvPr>
            <p:cNvSpPr txBox="1"/>
            <p:nvPr/>
          </p:nvSpPr>
          <p:spPr>
            <a:xfrm>
              <a:off x="9393677" y="4300231"/>
              <a:ext cx="1720951" cy="4816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 pitchFamily="34" charset="0"/>
                  <a:ea typeface="华文细黑"/>
                  <a:cs typeface="Calibri Light" panose="020F0302020204030204" pitchFamily="34" charset="0"/>
                </a:rPr>
                <a:t>PMI PMP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altLang="zh-CN" sz="1100" dirty="0">
                  <a:solidFill>
                    <a:prstClr val="black"/>
                  </a:solidFill>
                  <a:latin typeface="Calibri Light" panose="020F0302020204030204" pitchFamily="34" charset="0"/>
                  <a:ea typeface="华文细黑"/>
                  <a:cs typeface="Calibri Light" panose="020F0302020204030204" pitchFamily="34" charset="0"/>
                </a:rPr>
                <a:t>PMI ACP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华文细黑"/>
                <a:cs typeface="Calibri Light" panose="020F0302020204030204" pitchFamily="34" charset="0"/>
              </a:endParaRPr>
            </a:p>
          </p:txBody>
        </p:sp>
      </p:grpSp>
      <p:pic>
        <p:nvPicPr>
          <p:cNvPr id="4" name="图片 11">
            <a:extLst>
              <a:ext uri="{FF2B5EF4-FFF2-40B4-BE49-F238E27FC236}">
                <a16:creationId xmlns:a16="http://schemas.microsoft.com/office/drawing/2014/main" id="{F4B4D5AE-1517-4F29-9462-CA7AEDFDEC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11" y="847113"/>
            <a:ext cx="1893331" cy="21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12856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_Deloitte Brand Theme">
  <a:themeElements>
    <a:clrScheme name="Custom 3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43B02A"/>
      </a:accent2>
      <a:accent3>
        <a:srgbClr val="26890D"/>
      </a:accent3>
      <a:accent4>
        <a:srgbClr val="046A38"/>
      </a:accent4>
      <a:accent5>
        <a:srgbClr val="0D8390"/>
      </a:accent5>
      <a:accent6>
        <a:srgbClr val="007CB0"/>
      </a:accent6>
      <a:hlink>
        <a:srgbClr val="00A3E0"/>
      </a:hlink>
      <a:folHlink>
        <a:srgbClr val="7F7F7F"/>
      </a:folHlink>
    </a:clrScheme>
    <a:fontScheme name="Custom 11">
      <a:majorFont>
        <a:latin typeface="Calibri"/>
        <a:ea typeface="华文细黑"/>
        <a:cs typeface=""/>
      </a:majorFont>
      <a:minorFont>
        <a:latin typeface="Calibri"/>
        <a:ea typeface="华文细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 smtClean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 smtClean="0">
            <a:solidFill>
              <a:srgbClr val="313131"/>
            </a:solidFill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Default theme.potx" id="{D597603E-FA26-47FE-A9E9-FF4D65B99337}" vid="{929E40C7-6A55-46E6-8C6A-AD24D97D84F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1C020BC32F0E4DB987093661EF6AF5" ma:contentTypeVersion="" ma:contentTypeDescription="Create a new document." ma:contentTypeScope="" ma:versionID="3bf890b960b1b71a71b87b03fcc3b680">
  <xsd:schema xmlns:xsd="http://www.w3.org/2001/XMLSchema" xmlns:xs="http://www.w3.org/2001/XMLSchema" xmlns:p="http://schemas.microsoft.com/office/2006/metadata/properties" xmlns:ns2="4293f98b-5f30-4cc2-81bb-f737ff88cd6b" targetNamespace="http://schemas.microsoft.com/office/2006/metadata/properties" ma:root="true" ma:fieldsID="b0785afa7e2e3f0b05cc37e7308cca3f" ns2:_="">
    <xsd:import namespace="4293f98b-5f30-4cc2-81bb-f737ff88cd6b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93f98b-5f30-4cc2-81bb-f737ff88cd6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EA4D83C-2947-448F-8203-9E02229732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293f98b-5f30-4cc2-81bb-f737ff88cd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7C89941-F447-4D78-9022-BE7020E2FF7E}">
  <ds:schemaRefs>
    <ds:schemaRef ds:uri="http://www.w3.org/XML/1998/namespace"/>
    <ds:schemaRef ds:uri="http://schemas.openxmlformats.org/package/2006/metadata/core-properties"/>
    <ds:schemaRef ds:uri="http://purl.org/dc/dcmitype/"/>
    <ds:schemaRef ds:uri="4293f98b-5f30-4cc2-81bb-f737ff88cd6b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5BB63CF5-EE8A-4C1A-8241-E15A4EB32B5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674</Words>
  <Application>Microsoft Office PowerPoint</Application>
  <PresentationFormat>Widescreen</PresentationFormat>
  <Paragraphs>37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Cera Pro</vt:lpstr>
      <vt:lpstr>Arial</vt:lpstr>
      <vt:lpstr>Calibri</vt:lpstr>
      <vt:lpstr>Calibri Light</vt:lpstr>
      <vt:lpstr>Open Sans</vt:lpstr>
      <vt:lpstr>Verdana</vt:lpstr>
      <vt:lpstr>1_Deloitte Brand Theme</vt:lpstr>
      <vt:lpstr>PowerPoint Presentation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2023-02-01T13:13:37Z</dcterms:created>
  <dcterms:modified xsi:type="dcterms:W3CDTF">2025-10-10T08:45:30Z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0x010100F91C020BC32F0E4DB987093661EF6AF5</vt:lpwstr>
  </property>
</Properties>
</file>